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questions: can we publish the tool, and how do we turn it into an app. Short answers first, then the details.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practical summary, not legal advice. For a commercial launch, a quick check with someone who knows open licences is worth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Wiktionary is the only source with a ShareAlike condition, explained on slide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Emoji are drawn by the phone's own emoji font and voices come from the phone's text-to-speech, so neither is part of the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ShareAlike means that anyone who receives the Wiktionary-derived data files may reuse them under the same licence. It does not force the app code to be open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example sentences are user-written on Tatoeba. They were filtered for kid safety, but nobody has read all 17,000.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parental gate matters for the Tatoeba source links in the dictionary: in the Kids category, links that leave the app need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Pronunciation now drives much of the app: words, syllables and example sentences. That is why text-to-speech support shapes the recommendation.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2 uses a Trusted Web Activity: the PWA shown full screen inside Chrome, packaged for the Play Store.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same applies to file downloads: the Excel template and export need the share sheet inside a Capacitor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stores also need a privacy policy link. Apple sometimes rejects apps that are "just a website"; offline use, pronunciation and file import count as app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 is the foundation for both store versions, so no work is wasted.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Once these three are decided, step 1 can start right away.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816" y="1920240"/>
            <a:ext cx="10564063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60"/>
              </a:spcAft>
            </a:pPr>
            <a:r>
              <a:rPr sz="1600" b="1">
                <a:solidFill>
                  <a:srgbClr val="F2A65A"/>
                </a:solidFill>
                <a:latin typeface="Calibri"/>
              </a:rPr>
              <a:t>DER · DIE · DAS</a:t>
            </a:r>
          </a:p>
          <a:p>
            <a:pPr algn="l">
              <a:spcAft>
                <a:spcPts val="2100"/>
              </a:spcAft>
            </a:pPr>
            <a:r>
              <a:rPr sz="6000" b="1">
                <a:solidFill>
                  <a:srgbClr val="FBFBF8"/>
                </a:solidFill>
                <a:latin typeface="Calibri"/>
              </a:rPr>
              <a:t>Artikel-Trainer</a:t>
            </a:r>
          </a:p>
          <a:p>
            <a:pPr algn="l">
              <a:spcAft>
                <a:spcPts val="839"/>
              </a:spcAft>
            </a:pPr>
            <a:r>
              <a:rPr sz="2400" b="0">
                <a:solidFill>
                  <a:srgbClr val="D5DCEA"/>
                </a:solidFill>
                <a:latin typeface="Calibri"/>
              </a:rPr>
              <a:t>Licensing check and the road to a mobile app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6291072"/>
            <a:ext cx="105640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>
                <a:solidFill>
                  <a:srgbClr val="9AA6BF"/>
                </a:solidFill>
                <a:latin typeface="Calibri"/>
              </a:rPr>
              <a:t>A practical summary, not legal advice ·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816" y="658368"/>
            <a:ext cx="10564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>
                <a:solidFill>
                  <a:srgbClr val="2B59C3"/>
                </a:solidFill>
                <a:latin typeface="Calibri"/>
              </a:rPr>
              <a:t>CAN I PUBLISH 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987552"/>
            <a:ext cx="10564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4000" b="1">
                <a:solidFill>
                  <a:srgbClr val="14213D"/>
                </a:solidFill>
                <a:latin typeface="Calibri"/>
              </a:rPr>
              <a:t>Yes, for free or even commercially.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" y="1783080"/>
            <a:ext cx="105640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30"/>
              </a:spcAft>
            </a:pPr>
            <a:r>
              <a:rPr sz="1800" b="0">
                <a:solidFill>
                  <a:srgbClr val="4A5568"/>
                </a:solidFill>
                <a:latin typeface="Calibri"/>
              </a:rPr>
              <a:t>No part of the app is "all rights reserved". Three conditions apply: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3816" y="2651760"/>
            <a:ext cx="3387242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136" y="2926079"/>
            <a:ext cx="2838602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20"/>
              </a:spcAft>
            </a:pPr>
            <a:r>
              <a:rPr sz="3200" b="1">
                <a:solidFill>
                  <a:srgbClr val="2B59C3"/>
                </a:solidFill>
                <a:latin typeface="Calibri"/>
              </a:rPr>
              <a:t>1</a:t>
            </a:r>
          </a:p>
          <a:p>
            <a:pPr algn="l">
              <a:spcAft>
                <a:spcPts val="630"/>
              </a:spcAft>
            </a:pPr>
            <a:r>
              <a:rPr sz="1800" b="1">
                <a:solidFill>
                  <a:srgbClr val="14213D"/>
                </a:solidFill>
                <a:latin typeface="Calibri"/>
              </a:rPr>
              <a:t>Credit the open sources</a:t>
            </a:r>
          </a:p>
          <a:p>
            <a:pPr algn="l">
              <a:spcAft>
                <a:spcPts val="489"/>
              </a:spcAft>
            </a:pPr>
            <a:r>
              <a:rPr sz="1400" b="0">
                <a:solidFill>
                  <a:srgbClr val="4A5568"/>
                </a:solidFill>
                <a:latin typeface="Calibri"/>
              </a:rPr>
              <a:t>Wiktionary, Tatoeba, the frequency lists, fonts and libraries.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2226" y="2651760"/>
            <a:ext cx="3387242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76546" y="2926079"/>
            <a:ext cx="2838602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20"/>
              </a:spcAft>
            </a:pPr>
            <a:r>
              <a:rPr sz="3200" b="1">
                <a:solidFill>
                  <a:srgbClr val="2B59C3"/>
                </a:solidFill>
                <a:latin typeface="Calibri"/>
              </a:rPr>
              <a:t>2</a:t>
            </a:r>
          </a:p>
          <a:p>
            <a:pPr algn="l">
              <a:spcAft>
                <a:spcPts val="630"/>
              </a:spcAft>
            </a:pPr>
            <a:r>
              <a:rPr sz="1800" b="1">
                <a:solidFill>
                  <a:srgbClr val="14213D"/>
                </a:solidFill>
                <a:latin typeface="Calibri"/>
              </a:rPr>
              <a:t>Keep Wiktionary data open</a:t>
            </a:r>
          </a:p>
          <a:p>
            <a:pPr algn="l">
              <a:spcAft>
                <a:spcPts val="489"/>
              </a:spcAft>
            </a:pPr>
            <a:r>
              <a:rPr sz="1400" b="0">
                <a:solidFill>
                  <a:srgbClr val="4A5568"/>
                </a:solidFill>
                <a:latin typeface="Calibri"/>
              </a:rPr>
              <a:t>Data files built from Wiktionary stay under CC BY-SA if you share them.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90636" y="2651760"/>
            <a:ext cx="3387242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64956" y="2926079"/>
            <a:ext cx="2838602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20"/>
              </a:spcAft>
            </a:pPr>
            <a:r>
              <a:rPr sz="3200" b="1">
                <a:solidFill>
                  <a:srgbClr val="2B59C3"/>
                </a:solidFill>
                <a:latin typeface="Calibri"/>
              </a:rPr>
              <a:t>3</a:t>
            </a:r>
          </a:p>
          <a:p>
            <a:pPr algn="l">
              <a:spcAft>
                <a:spcPts val="630"/>
              </a:spcAft>
            </a:pPr>
            <a:r>
              <a:rPr sz="1800" b="1">
                <a:solidFill>
                  <a:srgbClr val="14213D"/>
                </a:solidFill>
                <a:latin typeface="Calibri"/>
              </a:rPr>
              <a:t>Add two pages</a:t>
            </a:r>
          </a:p>
          <a:p>
            <a:pPr algn="l">
              <a:spcAft>
                <a:spcPts val="489"/>
              </a:spcAft>
            </a:pPr>
            <a:r>
              <a:rPr sz="1400" b="0">
                <a:solidFill>
                  <a:srgbClr val="4A5568"/>
                </a:solidFill>
                <a:latin typeface="Calibri"/>
              </a:rPr>
              <a:t>An About / Credits page and a privacy policy.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816" y="658368"/>
            <a:ext cx="10564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>
                <a:solidFill>
                  <a:srgbClr val="2B59C3"/>
                </a:solidFill>
                <a:latin typeface="Calibri"/>
              </a:rPr>
              <a:t>WHAT'S INSIDE · 1 OF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987552"/>
            <a:ext cx="10564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20"/>
              </a:spcAft>
            </a:pPr>
            <a:r>
              <a:rPr sz="3200" b="1">
                <a:solidFill>
                  <a:srgbClr val="14213D"/>
                </a:solidFill>
                <a:latin typeface="Calibri"/>
              </a:rPr>
              <a:t>Data from open sources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13816" y="1874519"/>
          <a:ext cx="105640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4859"/>
                <a:gridCol w="2324093"/>
                <a:gridCol w="1795890"/>
                <a:gridCol w="3169218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BFBF8"/>
                          </a:solidFill>
                          <a:latin typeface="Calibri"/>
                        </a:rPr>
                        <a:t>Part of the app</a:t>
                      </a:r>
                    </a:p>
                  </a:txBody>
                  <a:tcPr marL="109728" marR="109728" marT="73152" marB="7315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BFBF8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109728" marR="109728" marT="73152" marB="7315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BFBF8"/>
                          </a:solidFill>
                          <a:latin typeface="Calibri"/>
                        </a:rPr>
                        <a:t>Licence</a:t>
                      </a:r>
                    </a:p>
                  </a:txBody>
                  <a:tcPr marL="109728" marR="109728" marT="73152" marB="7315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BFBF8"/>
                          </a:solidFill>
                          <a:latin typeface="Calibri"/>
                        </a:rPr>
                        <a:t>What you must do</a:t>
                      </a:r>
                    </a:p>
                  </a:txBody>
                  <a:tcPr marL="109728" marR="109728" marT="73152" marB="73152">
                    <a:solidFill>
                      <a:srgbClr val="14213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2433"/>
                          </a:solidFill>
                          <a:latin typeface="Calibri"/>
                        </a:rPr>
                        <a:t>Extra nouns and verbs, verb forms, adjective meanings, plurals, syllable splits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2433"/>
                          </a:solidFill>
                          <a:latin typeface="Calibri"/>
                        </a:rPr>
                        <a:t>Wiktionary (via kaikki.org, gambolputty)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C2433"/>
                          </a:solidFill>
                          <a:latin typeface="Calibri"/>
                        </a:rPr>
                        <a:t>CC BY-SA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2433"/>
                          </a:solidFill>
                          <a:latin typeface="Calibri"/>
                        </a:rPr>
                        <a:t>Credit Wiktionary; share these data files under CC BY-SA too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2433"/>
                          </a:solidFill>
                          <a:latin typeface="Calibri"/>
                        </a:rPr>
                        <a:t>17,236 example sentences</a:t>
                      </a:r>
                    </a:p>
                  </a:txBody>
                  <a:tcPr marL="109728" marR="109728" marT="73152" marB="73152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2433"/>
                          </a:solidFill>
                          <a:latin typeface="Calibri"/>
                        </a:rPr>
                        <a:t>Tatoeba</a:t>
                      </a:r>
                    </a:p>
                  </a:txBody>
                  <a:tcPr marL="109728" marR="109728" marT="73152" marB="73152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C2433"/>
                          </a:solidFill>
                          <a:latin typeface="Calibri"/>
                        </a:rPr>
                        <a:t>CC BY 2.0 FR</a:t>
                      </a:r>
                    </a:p>
                  </a:txBody>
                  <a:tcPr marL="109728" marR="109728" marT="73152" marB="73152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2433"/>
                          </a:solidFill>
                          <a:latin typeface="Calibri"/>
                        </a:rPr>
                        <a:t>Credit Tatoeba (the per-sentence links already do)</a:t>
                      </a:r>
                    </a:p>
                  </a:txBody>
                  <a:tcPr marL="109728" marR="109728" marT="73152" marB="73152">
                    <a:solidFill>
                      <a:srgbClr val="F7F8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2433"/>
                          </a:solidFill>
                          <a:latin typeface="Calibri"/>
                        </a:rPr>
                        <a:t>Frequency ranking (Top 5000)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2433"/>
                          </a:solidFill>
                          <a:latin typeface="Calibri"/>
                        </a:rPr>
                        <a:t>Leipzig Corpora, OpenSubtitles word list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2433"/>
                          </a:solidFill>
                          <a:latin typeface="Calibri"/>
                        </a:rPr>
                        <a:t>Statistics; sources ask for credit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2433"/>
                          </a:solidFill>
                          <a:latin typeface="Calibri"/>
                        </a:rPr>
                        <a:t>Name both as sources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13816" y="6291072"/>
            <a:ext cx="105640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>
                <a:solidFill>
                  <a:srgbClr val="5A6478"/>
                </a:solidFill>
                <a:latin typeface="Calibri"/>
              </a:rPr>
              <a:t>Rankings are computed statistics, but crediting the corpora is the safe and polite choice.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816" y="658368"/>
            <a:ext cx="10564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>
                <a:solidFill>
                  <a:srgbClr val="2B59C3"/>
                </a:solidFill>
                <a:latin typeface="Calibri"/>
              </a:rPr>
              <a:t>WHAT'S INSIDE · 2 OF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987552"/>
            <a:ext cx="10564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20"/>
              </a:spcAft>
            </a:pPr>
            <a:r>
              <a:rPr sz="3200" b="1">
                <a:solidFill>
                  <a:srgbClr val="14213D"/>
                </a:solidFill>
                <a:latin typeface="Calibri"/>
              </a:rPr>
              <a:t>Your own work, tools and fonts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13816" y="1874519"/>
          <a:ext cx="105640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6140"/>
                <a:gridCol w="2112812"/>
                <a:gridCol w="2007171"/>
                <a:gridCol w="2957937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BFBF8"/>
                          </a:solidFill>
                          <a:latin typeface="Calibri"/>
                        </a:rPr>
                        <a:t>Part of the app</a:t>
                      </a:r>
                    </a:p>
                  </a:txBody>
                  <a:tcPr marL="109728" marR="109728" marT="73152" marB="7315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BFBF8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109728" marR="109728" marT="73152" marB="7315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BFBF8"/>
                          </a:solidFill>
                          <a:latin typeface="Calibri"/>
                        </a:rPr>
                        <a:t>Licence</a:t>
                      </a:r>
                    </a:p>
                  </a:txBody>
                  <a:tcPr marL="109728" marR="109728" marT="73152" marB="7315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BFBF8"/>
                          </a:solidFill>
                          <a:latin typeface="Calibri"/>
                        </a:rPr>
                        <a:t>What you must do</a:t>
                      </a:r>
                    </a:p>
                  </a:txBody>
                  <a:tcPr marL="109728" marR="109728" marT="73152" marB="73152">
                    <a:solidFill>
                      <a:srgbClr val="14213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2433"/>
                          </a:solidFill>
                          <a:latin typeface="Calibri"/>
                        </a:rPr>
                        <a:t>App code, design, themed noun lists, small-word English, picture choices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2433"/>
                          </a:solidFill>
                          <a:latin typeface="Calibri"/>
                        </a:rPr>
                        <a:t>This project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C2433"/>
                          </a:solidFill>
                          <a:latin typeface="Calibri"/>
                        </a:rPr>
                        <a:t>Yours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2433"/>
                          </a:solidFill>
                          <a:latin typeface="Calibri"/>
                        </a:rPr>
                        <a:t>Nothing; choose any licence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2433"/>
                          </a:solidFill>
                          <a:latin typeface="Calibri"/>
                        </a:rPr>
                        <a:t>Excel library</a:t>
                      </a:r>
                    </a:p>
                  </a:txBody>
                  <a:tcPr marL="109728" marR="109728" marT="73152" marB="73152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2433"/>
                          </a:solidFill>
                          <a:latin typeface="Calibri"/>
                        </a:rPr>
                        <a:t>SheetJS (xlsx)</a:t>
                      </a:r>
                    </a:p>
                  </a:txBody>
                  <a:tcPr marL="109728" marR="109728" marT="73152" marB="73152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C2433"/>
                          </a:solidFill>
                          <a:latin typeface="Calibri"/>
                        </a:rPr>
                        <a:t>Apache 2.0</a:t>
                      </a:r>
                    </a:p>
                  </a:txBody>
                  <a:tcPr marL="109728" marR="109728" marT="73152" marB="73152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2433"/>
                          </a:solidFill>
                          <a:latin typeface="Calibri"/>
                        </a:rPr>
                        <a:t>Include its licence text</a:t>
                      </a:r>
                    </a:p>
                  </a:txBody>
                  <a:tcPr marL="109728" marR="109728" marT="73152" marB="73152">
                    <a:solidFill>
                      <a:srgbClr val="F7F8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2433"/>
                          </a:solidFill>
                          <a:latin typeface="Calibri"/>
                        </a:rPr>
                        <a:t>Hyphenation patterns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2433"/>
                          </a:solidFill>
                          <a:latin typeface="Calibri"/>
                        </a:rPr>
                        <a:t>TeX hyphenation project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C2433"/>
                          </a:solidFill>
                          <a:latin typeface="Calibri"/>
                        </a:rPr>
                        <a:t>MIT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2433"/>
                          </a:solidFill>
                          <a:latin typeface="Calibri"/>
                        </a:rPr>
                        <a:t>Keep the notice (already in the file)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2433"/>
                          </a:solidFill>
                          <a:latin typeface="Calibri"/>
                        </a:rPr>
                        <a:t>Fonts: Playwrite DE, Nunito</a:t>
                      </a:r>
                    </a:p>
                  </a:txBody>
                  <a:tcPr marL="109728" marR="109728" marT="73152" marB="73152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2433"/>
                          </a:solidFill>
                          <a:latin typeface="Calibri"/>
                        </a:rPr>
                        <a:t>Google Fonts</a:t>
                      </a:r>
                    </a:p>
                  </a:txBody>
                  <a:tcPr marL="109728" marR="109728" marT="73152" marB="73152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C2433"/>
                          </a:solidFill>
                          <a:latin typeface="Calibri"/>
                        </a:rPr>
                        <a:t>SIL OFL</a:t>
                      </a:r>
                    </a:p>
                  </a:txBody>
                  <a:tcPr marL="109728" marR="109728" marT="73152" marB="73152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2433"/>
                          </a:solidFill>
                          <a:latin typeface="Calibri"/>
                        </a:rPr>
                        <a:t>Free to bundle; include the OFL notice</a:t>
                      </a:r>
                    </a:p>
                  </a:txBody>
                  <a:tcPr marL="109728" marR="109728" marT="73152" marB="73152">
                    <a:solidFill>
                      <a:srgbClr val="F7F8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2433"/>
                          </a:solidFill>
                          <a:latin typeface="Calibri"/>
                        </a:rPr>
                        <a:t>Emoji pictures and voices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2433"/>
                          </a:solidFill>
                          <a:latin typeface="Calibri"/>
                        </a:rPr>
                        <a:t>The user's device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2433"/>
                          </a:solidFill>
                          <a:latin typeface="Calibri"/>
                        </a:rPr>
                        <a:t>Not shipped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2433"/>
                          </a:solidFill>
                          <a:latin typeface="Calibri"/>
                        </a:rPr>
                        <a:t>Nothing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816" y="658368"/>
            <a:ext cx="10564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>
                <a:solidFill>
                  <a:srgbClr val="2B59C3"/>
                </a:solidFill>
                <a:latin typeface="Calibri"/>
              </a:rPr>
              <a:t>SHAREALIKE, EXPLAINED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987552"/>
            <a:ext cx="10564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20"/>
              </a:spcAft>
            </a:pPr>
            <a:r>
              <a:rPr sz="3200" b="1">
                <a:solidFill>
                  <a:srgbClr val="14213D"/>
                </a:solidFill>
                <a:latin typeface="Calibri"/>
              </a:rPr>
              <a:t>Each part keeps its own licence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3816" y="1874519"/>
            <a:ext cx="5181447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3816" y="1874519"/>
            <a:ext cx="5181447" cy="73152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" y="2194560"/>
            <a:ext cx="4541367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4213D"/>
                </a:solidFill>
                <a:latin typeface="Calibri"/>
              </a:rPr>
              <a:t>Must stay CC BY-SA</a:t>
            </a:r>
          </a:p>
          <a:p>
            <a:pPr algn="l">
              <a:spcAft>
                <a:spcPts val="489"/>
              </a:spcAft>
            </a:pPr>
            <a:r>
              <a:rPr sz="1400" b="0">
                <a:solidFill>
                  <a:srgbClr val="4A5568"/>
                </a:solidFill>
                <a:latin typeface="Calibri"/>
              </a:rPr>
              <a:t>Data files built from Wiktionary:</a:t>
            </a:r>
          </a:p>
          <a:p>
            <a:pPr algn="l">
              <a:spcAft>
                <a:spcPts val="525"/>
              </a:spcAft>
            </a:pPr>
            <a:r>
              <a:rPr sz="1500" b="0">
                <a:solidFill>
                  <a:srgbClr val="1C2433"/>
                </a:solidFill>
                <a:latin typeface="Calibri"/>
              </a:rPr>
              <a:t>•  09-extended-nouns.js</a:t>
            </a:r>
          </a:p>
          <a:p>
            <a:pPr algn="l">
              <a:spcAft>
                <a:spcPts val="525"/>
              </a:spcAft>
            </a:pPr>
            <a:r>
              <a:rPr sz="1500" b="0">
                <a:solidFill>
                  <a:srgbClr val="1C2433"/>
                </a:solidFill>
                <a:latin typeface="Calibri"/>
              </a:rPr>
              <a:t>•  verbs.js, words.js</a:t>
            </a:r>
          </a:p>
          <a:p>
            <a:pPr algn="l">
              <a:spcAft>
                <a:spcPts val="525"/>
              </a:spcAft>
            </a:pPr>
            <a:r>
              <a:rPr sz="1500" b="0">
                <a:solidFill>
                  <a:srgbClr val="1C2433"/>
                </a:solidFill>
                <a:latin typeface="Calibri"/>
              </a:rPr>
              <a:t>•  plurals.js, syllables.js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6431" y="1874519"/>
            <a:ext cx="5181447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196431" y="1874519"/>
            <a:ext cx="5181447" cy="73152"/>
          </a:xfrm>
          <a:prstGeom prst="rect">
            <a:avLst/>
          </a:prstGeom>
          <a:solidFill>
            <a:srgbClr val="2B59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6471" y="2194560"/>
            <a:ext cx="4541367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4213D"/>
                </a:solidFill>
                <a:latin typeface="Calibri"/>
              </a:rPr>
              <a:t>Your choice of licence</a:t>
            </a:r>
          </a:p>
          <a:p>
            <a:pPr algn="l">
              <a:spcAft>
                <a:spcPts val="489"/>
              </a:spcAft>
            </a:pPr>
            <a:r>
              <a:rPr sz="1400" b="0">
                <a:solidFill>
                  <a:srgbClr val="4A5568"/>
                </a:solidFill>
                <a:latin typeface="Calibri"/>
              </a:rPr>
              <a:t>Everything written for this project:</a:t>
            </a:r>
          </a:p>
          <a:p>
            <a:pPr algn="l">
              <a:spcAft>
                <a:spcPts val="525"/>
              </a:spcAft>
            </a:pPr>
            <a:r>
              <a:rPr sz="1500" b="0">
                <a:solidFill>
                  <a:srgbClr val="1C2433"/>
                </a:solidFill>
                <a:latin typeface="Calibri"/>
              </a:rPr>
              <a:t>•  app.js, index.html, style.css</a:t>
            </a:r>
          </a:p>
          <a:p>
            <a:pPr algn="l">
              <a:spcAft>
                <a:spcPts val="525"/>
              </a:spcAft>
            </a:pPr>
            <a:r>
              <a:rPr sz="1500" b="0">
                <a:solidFill>
                  <a:srgbClr val="1C2433"/>
                </a:solidFill>
                <a:latin typeface="Calibri"/>
              </a:rPr>
              <a:t>•  Themed noun lists (01–08)</a:t>
            </a:r>
          </a:p>
          <a:p>
            <a:pPr algn="l">
              <a:spcAft>
                <a:spcPts val="525"/>
              </a:spcAft>
            </a:pPr>
            <a:r>
              <a:rPr sz="1500" b="0">
                <a:solidFill>
                  <a:srgbClr val="1C2433"/>
                </a:solidFill>
                <a:latin typeface="Calibri"/>
              </a:rPr>
              <a:t>•  pictures.js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" y="6291072"/>
            <a:ext cx="105640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>
                <a:solidFill>
                  <a:srgbClr val="5A6478"/>
                </a:solidFill>
                <a:latin typeface="Calibri"/>
              </a:rPr>
              <a:t>An app that bundles parts under different licences is fine, as long as each part's terms are followed.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816" y="658368"/>
            <a:ext cx="10564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>
                <a:solidFill>
                  <a:srgbClr val="2B59C3"/>
                </a:solidFill>
                <a:latin typeface="Calibri"/>
              </a:rPr>
              <a:t>BEFORE PUBLISHING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987552"/>
            <a:ext cx="10564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20"/>
              </a:spcAft>
            </a:pPr>
            <a:r>
              <a:rPr sz="3200" b="1">
                <a:solidFill>
                  <a:srgbClr val="14213D"/>
                </a:solidFill>
                <a:latin typeface="Calibri"/>
              </a:rPr>
              <a:t>Six small tasks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3816" y="1874519"/>
            <a:ext cx="3399434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136" y="2148839"/>
            <a:ext cx="2850794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>
                <a:solidFill>
                  <a:srgbClr val="2B59C3"/>
                </a:solidFill>
                <a:latin typeface="Calibri"/>
              </a:rPr>
              <a:t>✓ TASK 1</a:t>
            </a:r>
          </a:p>
          <a:p>
            <a:pPr algn="l">
              <a:spcAft>
                <a:spcPts val="630"/>
              </a:spcAft>
            </a:pPr>
            <a:r>
              <a:rPr sz="1800" b="1">
                <a:solidFill>
                  <a:srgbClr val="14213D"/>
                </a:solidFill>
                <a:latin typeface="Calibri"/>
              </a:rPr>
              <a:t>About / Credits page</a:t>
            </a:r>
          </a:p>
          <a:p>
            <a:pPr algn="l">
              <a:spcAft>
                <a:spcPts val="489"/>
              </a:spcAft>
            </a:pPr>
            <a:r>
              <a:rPr sz="1400" b="0">
                <a:solidFill>
                  <a:srgbClr val="4A5568"/>
                </a:solidFill>
                <a:latin typeface="Calibri"/>
              </a:rPr>
              <a:t>Lists every source and licence.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6130" y="1874519"/>
            <a:ext cx="3399434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70450" y="2148839"/>
            <a:ext cx="2850794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>
                <a:solidFill>
                  <a:srgbClr val="2B59C3"/>
                </a:solidFill>
                <a:latin typeface="Calibri"/>
              </a:rPr>
              <a:t>✓ TASK 2</a:t>
            </a:r>
          </a:p>
          <a:p>
            <a:pPr algn="l">
              <a:spcAft>
                <a:spcPts val="630"/>
              </a:spcAft>
            </a:pPr>
            <a:r>
              <a:rPr sz="1800" b="1">
                <a:solidFill>
                  <a:srgbClr val="14213D"/>
                </a:solidFill>
                <a:latin typeface="Calibri"/>
              </a:rPr>
              <a:t>Privacy policy</a:t>
            </a:r>
          </a:p>
          <a:p>
            <a:pPr algn="l">
              <a:spcAft>
                <a:spcPts val="489"/>
              </a:spcAft>
            </a:pPr>
            <a:r>
              <a:rPr sz="1400" b="0">
                <a:solidFill>
                  <a:srgbClr val="4A5568"/>
                </a:solidFill>
                <a:latin typeface="Calibri"/>
              </a:rPr>
              <a:t>Short: no data is collected.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78444" y="1874519"/>
            <a:ext cx="3399434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52764" y="2148839"/>
            <a:ext cx="2850794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>
                <a:solidFill>
                  <a:srgbClr val="2B59C3"/>
                </a:solidFill>
                <a:latin typeface="Calibri"/>
              </a:rPr>
              <a:t>✓ TASK 3</a:t>
            </a:r>
          </a:p>
          <a:p>
            <a:pPr algn="l">
              <a:spcAft>
                <a:spcPts val="630"/>
              </a:spcAft>
            </a:pPr>
            <a:r>
              <a:rPr sz="1800" b="1">
                <a:solidFill>
                  <a:srgbClr val="14213D"/>
                </a:solidFill>
                <a:latin typeface="Calibri"/>
              </a:rPr>
              <a:t>LICENSE and NOTICE files</a:t>
            </a:r>
          </a:p>
          <a:p>
            <a:pPr algn="l">
              <a:spcAft>
                <a:spcPts val="489"/>
              </a:spcAft>
            </a:pPr>
            <a:r>
              <a:rPr sz="1400" b="0">
                <a:solidFill>
                  <a:srgbClr val="4A5568"/>
                </a:solidFill>
                <a:latin typeface="Calibri"/>
              </a:rPr>
              <a:t>Your licence plus third-party notices.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" y="3840479"/>
            <a:ext cx="3399434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4114799"/>
            <a:ext cx="2850794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>
                <a:solidFill>
                  <a:srgbClr val="2B59C3"/>
                </a:solidFill>
                <a:latin typeface="Calibri"/>
              </a:rPr>
              <a:t>✓ TASK 4</a:t>
            </a:r>
          </a:p>
          <a:p>
            <a:pPr algn="l">
              <a:spcAft>
                <a:spcPts val="630"/>
              </a:spcAft>
            </a:pPr>
            <a:r>
              <a:rPr sz="1800" b="1">
                <a:solidFill>
                  <a:srgbClr val="14213D"/>
                </a:solidFill>
                <a:latin typeface="Calibri"/>
              </a:rPr>
              <a:t>Check the app name</a:t>
            </a:r>
          </a:p>
          <a:p>
            <a:pPr algn="l">
              <a:spcAft>
                <a:spcPts val="489"/>
              </a:spcAft>
            </a:pPr>
            <a:r>
              <a:rPr sz="1400" b="0">
                <a:solidFill>
                  <a:srgbClr val="4A5568"/>
                </a:solidFill>
                <a:latin typeface="Calibri"/>
              </a:rPr>
              <a:t>"Artikel-Trainer" is generic; search the stores first.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6130" y="3840479"/>
            <a:ext cx="3399434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70450" y="4114799"/>
            <a:ext cx="2850794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>
                <a:solidFill>
                  <a:srgbClr val="2B59C3"/>
                </a:solidFill>
                <a:latin typeface="Calibri"/>
              </a:rPr>
              <a:t>✓ TASK 5</a:t>
            </a:r>
          </a:p>
          <a:p>
            <a:pPr algn="l">
              <a:spcAft>
                <a:spcPts val="630"/>
              </a:spcAft>
            </a:pPr>
            <a:r>
              <a:rPr sz="1800" b="1">
                <a:solidFill>
                  <a:srgbClr val="14213D"/>
                </a:solidFill>
                <a:latin typeface="Calibri"/>
              </a:rPr>
              <a:t>Skim the examples</a:t>
            </a:r>
          </a:p>
          <a:p>
            <a:pPr algn="l">
              <a:spcAft>
                <a:spcPts val="489"/>
              </a:spcAft>
            </a:pPr>
            <a:r>
              <a:rPr sz="1400" b="0">
                <a:solidFill>
                  <a:srgbClr val="4A5568"/>
                </a:solidFill>
                <a:latin typeface="Calibri"/>
              </a:rPr>
              <a:t>Top 5000, or add a "report this sentence" button.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8444" y="3840479"/>
            <a:ext cx="3399434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52764" y="4114799"/>
            <a:ext cx="2850794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>
                <a:solidFill>
                  <a:srgbClr val="2B59C3"/>
                </a:solidFill>
                <a:latin typeface="Calibri"/>
              </a:rPr>
              <a:t>✓ TASK 6</a:t>
            </a:r>
          </a:p>
          <a:p>
            <a:pPr algn="l">
              <a:spcAft>
                <a:spcPts val="630"/>
              </a:spcAft>
            </a:pPr>
            <a:r>
              <a:rPr sz="1800" b="1">
                <a:solidFill>
                  <a:srgbClr val="14213D"/>
                </a:solidFill>
                <a:latin typeface="Calibri"/>
              </a:rPr>
              <a:t>Bundle the fonts</a:t>
            </a:r>
          </a:p>
          <a:p>
            <a:pPr algn="l">
              <a:spcAft>
                <a:spcPts val="489"/>
              </a:spcAft>
            </a:pPr>
            <a:r>
              <a:rPr sz="1400" b="0">
                <a:solidFill>
                  <a:srgbClr val="4A5568"/>
                </a:solidFill>
                <a:latin typeface="Calibri"/>
              </a:rPr>
              <a:t>So cursive works offline.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816" y="173736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>
                <a:solidFill>
                  <a:srgbClr val="2B59C3"/>
                </a:solidFill>
                <a:latin typeface="Calibri"/>
              </a:rPr>
              <a:t>KIDS AND PRIVACY</a:t>
            </a:r>
          </a:p>
          <a:p>
            <a:pPr algn="l">
              <a:spcAft>
                <a:spcPts val="1400"/>
              </a:spcAft>
            </a:pPr>
            <a:r>
              <a:rPr sz="4000" b="1">
                <a:solidFill>
                  <a:srgbClr val="14213D"/>
                </a:solidFill>
                <a:latin typeface="Calibri"/>
              </a:rPr>
              <a:t>No data leaves the device.</a:t>
            </a:r>
          </a:p>
          <a:p>
            <a:pPr algn="l">
              <a:spcAft>
                <a:spcPts val="560"/>
              </a:spcAft>
            </a:pPr>
            <a:r>
              <a:rPr sz="1600" b="0">
                <a:solidFill>
                  <a:srgbClr val="4A5568"/>
                </a:solidFill>
                <a:latin typeface="Calibri"/>
              </a:rPr>
              <a:t>Settings, scores and added words are saved in the browser on the device only.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309360" y="1097280"/>
            <a:ext cx="507492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09360" y="1097280"/>
            <a:ext cx="73152" cy="1417320"/>
          </a:xfrm>
          <a:prstGeom prst="rect">
            <a:avLst/>
          </a:prstGeom>
          <a:solidFill>
            <a:srgbClr val="2B59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0" y="1298448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94"/>
              </a:spcAft>
            </a:pPr>
            <a:r>
              <a:rPr sz="1700" b="1">
                <a:solidFill>
                  <a:srgbClr val="14213D"/>
                </a:solidFill>
                <a:latin typeface="Calibri"/>
              </a:rPr>
              <a:t>No ads, analytics or accounts</a:t>
            </a:r>
          </a:p>
          <a:p>
            <a:pPr algn="l">
              <a:spcAft>
                <a:spcPts val="455"/>
              </a:spcAft>
            </a:pPr>
            <a:r>
              <a:rPr sz="1300" b="0">
                <a:solidFill>
                  <a:srgbClr val="4A5568"/>
                </a:solidFill>
                <a:latin typeface="Calibri"/>
              </a:rPr>
              <a:t>Keep it that way to qualify for kids' programmes.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2697480"/>
            <a:ext cx="507492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0" y="2697480"/>
            <a:ext cx="73152" cy="1417320"/>
          </a:xfrm>
          <a:prstGeom prst="rect">
            <a:avLst/>
          </a:prstGeom>
          <a:solidFill>
            <a:srgbClr val="2B59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2898648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94"/>
              </a:spcAft>
            </a:pPr>
            <a:r>
              <a:rPr sz="1700" b="1">
                <a:solidFill>
                  <a:srgbClr val="14213D"/>
                </a:solidFill>
                <a:latin typeface="Calibri"/>
              </a:rPr>
              <a:t>Store rules for kids</a:t>
            </a:r>
          </a:p>
          <a:p>
            <a:pPr algn="l">
              <a:spcAft>
                <a:spcPts val="455"/>
              </a:spcAft>
            </a:pPr>
            <a:r>
              <a:rPr sz="1300" b="0">
                <a:solidFill>
                  <a:srgbClr val="4A5568"/>
                </a:solidFill>
                <a:latin typeface="Calibri"/>
              </a:rPr>
              <a:t>Apple Kids category and Google "Designed for Families": no tracking, and a parental gate before external links such as Tatoeba.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4297680"/>
            <a:ext cx="507492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4297680"/>
            <a:ext cx="73152" cy="1417320"/>
          </a:xfrm>
          <a:prstGeom prst="rect">
            <a:avLst/>
          </a:prstGeom>
          <a:solidFill>
            <a:srgbClr val="2B59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4498848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94"/>
              </a:spcAft>
            </a:pPr>
            <a:r>
              <a:rPr sz="1700" b="1">
                <a:solidFill>
                  <a:srgbClr val="14213D"/>
                </a:solidFill>
                <a:latin typeface="Calibri"/>
              </a:rPr>
              <a:t>Privacy policy still required</a:t>
            </a:r>
          </a:p>
          <a:p>
            <a:pPr algn="l">
              <a:spcAft>
                <a:spcPts val="455"/>
              </a:spcAft>
            </a:pPr>
            <a:r>
              <a:rPr sz="1300" b="0">
                <a:solidFill>
                  <a:srgbClr val="4A5568"/>
                </a:solidFill>
                <a:latin typeface="Calibri"/>
              </a:rPr>
              <a:t>Both stores want a link, even when nothing is collected.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816" y="2011680"/>
            <a:ext cx="960120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60"/>
              </a:spcAft>
            </a:pPr>
            <a:r>
              <a:rPr sz="1600" b="1">
                <a:solidFill>
                  <a:srgbClr val="F2A65A"/>
                </a:solidFill>
                <a:latin typeface="Calibri"/>
              </a:rPr>
              <a:t>PART 2</a:t>
            </a:r>
          </a:p>
          <a:p>
            <a:pPr algn="l">
              <a:spcAft>
                <a:spcPts val="1959"/>
              </a:spcAft>
            </a:pPr>
            <a:r>
              <a:rPr sz="5600" b="1">
                <a:solidFill>
                  <a:srgbClr val="FBFBF8"/>
                </a:solidFill>
                <a:latin typeface="Calibri"/>
              </a:rPr>
              <a:t>Making it an app</a:t>
            </a:r>
          </a:p>
          <a:p>
            <a:pPr algn="l">
              <a:spcAft>
                <a:spcPts val="769"/>
              </a:spcAft>
            </a:pPr>
            <a:r>
              <a:rPr sz="2200" b="0">
                <a:solidFill>
                  <a:srgbClr val="D5DCEA"/>
                </a:solidFill>
                <a:latin typeface="Calibri"/>
              </a:rPr>
              <a:t>About 5 MB of offline data, with pronunciation at the heart of it: the voice decides which route works best.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816" y="658368"/>
            <a:ext cx="10564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>
                <a:solidFill>
                  <a:srgbClr val="2B59C3"/>
                </a:solidFill>
                <a:latin typeface="Calibri"/>
              </a:rPr>
              <a:t>THE OPTIONS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987552"/>
            <a:ext cx="10564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20"/>
              </a:spcAft>
            </a:pPr>
            <a:r>
              <a:rPr sz="3200" b="1">
                <a:solidFill>
                  <a:srgbClr val="14213D"/>
                </a:solidFill>
                <a:latin typeface="Calibri"/>
              </a:rPr>
              <a:t>Four ways to get onto phones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13816" y="1874519"/>
          <a:ext cx="105640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1015"/>
                <a:gridCol w="2324093"/>
                <a:gridCol w="2429734"/>
                <a:gridCol w="3169218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BFBF8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9728" marR="109728" marT="73152" marB="7315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BFBF8"/>
                          </a:solidFill>
                          <a:latin typeface="Calibri"/>
                        </a:rPr>
                        <a:t>Effort and cost</a:t>
                      </a:r>
                    </a:p>
                  </a:txBody>
                  <a:tcPr marL="109728" marR="109728" marT="73152" marB="7315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BFBF8"/>
                          </a:solidFill>
                          <a:latin typeface="Calibri"/>
                        </a:rPr>
                        <a:t>Voice (text-to-speech)</a:t>
                      </a:r>
                    </a:p>
                  </a:txBody>
                  <a:tcPr marL="109728" marR="109728" marT="73152" marB="7315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BFBF8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marL="109728" marR="109728" marT="73152" marB="73152">
                    <a:solidFill>
                      <a:srgbClr val="14213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C2433"/>
                          </a:solidFill>
                          <a:latin typeface="Calibri"/>
                        </a:rPr>
                        <a:t>1. Installable web app (PWA)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2433"/>
                          </a:solidFill>
                          <a:latin typeface="Calibri"/>
                        </a:rPr>
                        <a:t>About 1 hour; free hosting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2433"/>
                          </a:solidFill>
                          <a:latin typeface="Calibri"/>
                        </a:rPr>
                        <a:t>Works (real browser)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2433"/>
                          </a:solidFill>
                          <a:latin typeface="Calibri"/>
                        </a:rPr>
                        <a:t>Home-screen icon, offline; not in the stores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C2433"/>
                          </a:solidFill>
                          <a:latin typeface="Calibri"/>
                        </a:rPr>
                        <a:t>2. Play Store via PWABuilder</a:t>
                      </a:r>
                    </a:p>
                  </a:txBody>
                  <a:tcPr marL="109728" marR="109728" marT="73152" marB="73152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2433"/>
                          </a:solidFill>
                          <a:latin typeface="Calibri"/>
                        </a:rPr>
                        <a:t>A few hours; $25 once</a:t>
                      </a:r>
                    </a:p>
                  </a:txBody>
                  <a:tcPr marL="109728" marR="109728" marT="73152" marB="73152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2433"/>
                          </a:solidFill>
                          <a:latin typeface="Calibri"/>
                        </a:rPr>
                        <a:t>Works (runs in Chrome)</a:t>
                      </a:r>
                    </a:p>
                  </a:txBody>
                  <a:tcPr marL="109728" marR="109728" marT="73152" marB="73152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2433"/>
                          </a:solidFill>
                          <a:latin typeface="Calibri"/>
                        </a:rPr>
                        <a:t>Built from the PWA; updates go live without a new release</a:t>
                      </a:r>
                    </a:p>
                  </a:txBody>
                  <a:tcPr marL="109728" marR="109728" marT="73152" marB="73152">
                    <a:solidFill>
                      <a:srgbClr val="F7F8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C2433"/>
                          </a:solidFill>
                          <a:latin typeface="Calibri"/>
                        </a:rPr>
                        <a:t>3. Capacitor app (iOS + Android)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2433"/>
                          </a:solidFill>
                          <a:latin typeface="Calibri"/>
                        </a:rPr>
                        <a:t>2–4 days; Apple $99/year + a Mac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2433"/>
                          </a:solidFill>
                          <a:latin typeface="Calibri"/>
                        </a:rPr>
                        <a:t>iOS works; Android needs a plugin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2433"/>
                          </a:solidFill>
                          <a:latin typeface="Calibri"/>
                        </a:rPr>
                        <a:t>Plugins for downloads and sharing; printing differs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C2433"/>
                          </a:solidFill>
                          <a:latin typeface="Calibri"/>
                        </a:rPr>
                        <a:t>Rewrite in Flutter or React Native</a:t>
                      </a:r>
                    </a:p>
                  </a:txBody>
                  <a:tcPr marL="109728" marR="109728" marT="73152" marB="73152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2433"/>
                          </a:solidFill>
                          <a:latin typeface="Calibri"/>
                        </a:rPr>
                        <a:t>Weeks</a:t>
                      </a:r>
                    </a:p>
                  </a:txBody>
                  <a:tcPr marL="109728" marR="109728" marT="73152" marB="73152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2433"/>
                          </a:solidFill>
                          <a:latin typeface="Calibri"/>
                        </a:rPr>
                        <a:t>Native</a:t>
                      </a:r>
                    </a:p>
                  </a:txBody>
                  <a:tcPr marL="109728" marR="109728" marT="73152" marB="73152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2433"/>
                          </a:solidFill>
                          <a:latin typeface="Calibri"/>
                        </a:rPr>
                        <a:t>Not worth it: everything would be rebuilt</a:t>
                      </a:r>
                    </a:p>
                  </a:txBody>
                  <a:tcPr marL="109728" marR="109728" marT="73152" marB="73152">
                    <a:solidFill>
                      <a:srgbClr val="F7F8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816" y="658368"/>
            <a:ext cx="10564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>
                <a:solidFill>
                  <a:srgbClr val="2B59C3"/>
                </a:solidFill>
                <a:latin typeface="Calibri"/>
              </a:rPr>
              <a:t>WHY THE VOICE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987552"/>
            <a:ext cx="10564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20"/>
              </a:spcAft>
            </a:pPr>
            <a:r>
              <a:rPr sz="3200" b="1">
                <a:solidFill>
                  <a:srgbClr val="14213D"/>
                </a:solidFill>
                <a:latin typeface="Calibri"/>
              </a:rPr>
              <a:t>Where the built-in voice works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3816" y="1874519"/>
            <a:ext cx="3387242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3816" y="1874519"/>
            <a:ext cx="3387242" cy="73152"/>
          </a:xfrm>
          <a:prstGeom prst="rect">
            <a:avLst/>
          </a:prstGeom>
          <a:solidFill>
            <a:srgbClr val="2B59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136" y="2148839"/>
            <a:ext cx="2838602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>
                <a:solidFill>
                  <a:srgbClr val="2B59C3"/>
                </a:solidFill>
                <a:latin typeface="Calibri"/>
              </a:rPr>
              <a:t>WORKS</a:t>
            </a:r>
          </a:p>
          <a:p>
            <a:pPr algn="l">
              <a:spcAft>
                <a:spcPts val="630"/>
              </a:spcAft>
            </a:pPr>
            <a:r>
              <a:rPr sz="1800" b="1">
                <a:solidFill>
                  <a:srgbClr val="14213D"/>
                </a:solidFill>
                <a:latin typeface="Calibri"/>
              </a:rPr>
              <a:t>Browser, PWA and Play Store (PWABuilder)</a:t>
            </a:r>
          </a:p>
          <a:p>
            <a:pPr algn="l">
              <a:spcAft>
                <a:spcPts val="489"/>
              </a:spcAft>
            </a:pPr>
            <a:r>
              <a:rPr sz="1400" b="0">
                <a:solidFill>
                  <a:srgbClr val="4A5568"/>
                </a:solidFill>
                <a:latin typeface="Calibri"/>
              </a:rPr>
              <a:t>Words, syllables and sentences play unchanged.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2226" y="1874519"/>
            <a:ext cx="3387242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402226" y="1874519"/>
            <a:ext cx="3387242" cy="73152"/>
          </a:xfrm>
          <a:prstGeom prst="rect">
            <a:avLst/>
          </a:prstGeom>
          <a:solidFill>
            <a:srgbClr val="2B59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76546" y="2148839"/>
            <a:ext cx="2838602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>
                <a:solidFill>
                  <a:srgbClr val="2B59C3"/>
                </a:solidFill>
                <a:latin typeface="Calibri"/>
              </a:rPr>
              <a:t>WORKS</a:t>
            </a:r>
          </a:p>
          <a:p>
            <a:pPr algn="l">
              <a:spcAft>
                <a:spcPts val="630"/>
              </a:spcAft>
            </a:pPr>
            <a:r>
              <a:rPr sz="1800" b="1">
                <a:solidFill>
                  <a:srgbClr val="14213D"/>
                </a:solidFill>
                <a:latin typeface="Calibri"/>
              </a:rPr>
              <a:t>iPhone app (Capacitor on iOS)</a:t>
            </a:r>
          </a:p>
          <a:p>
            <a:pPr algn="l">
              <a:spcAft>
                <a:spcPts val="489"/>
              </a:spcAft>
            </a:pPr>
            <a:r>
              <a:rPr sz="1400" b="0">
                <a:solidFill>
                  <a:srgbClr val="4A5568"/>
                </a:solidFill>
                <a:latin typeface="Calibri"/>
              </a:rPr>
              <a:t>The iOS web view includes the speech engine.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90636" y="1874519"/>
            <a:ext cx="3387242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0636" y="1874519"/>
            <a:ext cx="3387242" cy="73152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64956" y="2148839"/>
            <a:ext cx="2838602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>
                <a:solidFill>
                  <a:srgbClr val="B85C12"/>
                </a:solidFill>
                <a:latin typeface="Calibri"/>
              </a:rPr>
              <a:t>NEEDS A PLUGIN</a:t>
            </a:r>
          </a:p>
          <a:p>
            <a:pPr algn="l">
              <a:spcAft>
                <a:spcPts val="630"/>
              </a:spcAft>
            </a:pPr>
            <a:r>
              <a:rPr sz="1800" b="1">
                <a:solidFill>
                  <a:srgbClr val="14213D"/>
                </a:solidFill>
                <a:latin typeface="Calibri"/>
              </a:rPr>
              <a:t>Android app (Capacitor on Android)</a:t>
            </a:r>
          </a:p>
          <a:p>
            <a:pPr algn="l">
              <a:spcAft>
                <a:spcPts val="489"/>
              </a:spcAft>
            </a:pPr>
            <a:r>
              <a:rPr sz="1400" b="0">
                <a:solidFill>
                  <a:srgbClr val="4A5568"/>
                </a:solidFill>
                <a:latin typeface="Calibri"/>
              </a:rPr>
              <a:t>Android's built-in web view has no text-to-speech; add a native speech plugin.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4983480"/>
            <a:ext cx="1056406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60"/>
              </a:spcAft>
            </a:pPr>
            <a:r>
              <a:rPr sz="1600" b="0">
                <a:solidFill>
                  <a:srgbClr val="4A5568"/>
                </a:solidFill>
                <a:latin typeface="Calibri"/>
              </a:rPr>
              <a:t>So for Android, the Play Store route through PWABuilder keeps the voice working with no extra code.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816" y="658368"/>
            <a:ext cx="10564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>
                <a:solidFill>
                  <a:srgbClr val="2B59C3"/>
                </a:solidFill>
                <a:latin typeface="Calibri"/>
              </a:rPr>
              <a:t>COSTS AND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987552"/>
            <a:ext cx="10564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20"/>
              </a:spcAft>
            </a:pPr>
            <a:r>
              <a:rPr sz="3200" b="1">
                <a:solidFill>
                  <a:srgbClr val="14213D"/>
                </a:solidFill>
                <a:latin typeface="Calibri"/>
              </a:rPr>
              <a:t>What each step costs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3816" y="2011680"/>
            <a:ext cx="3387242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" y="2286000"/>
            <a:ext cx="2747162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889"/>
              </a:spcAft>
            </a:pPr>
            <a:r>
              <a:rPr sz="5400" b="1">
                <a:solidFill>
                  <a:srgbClr val="2B59C3"/>
                </a:solidFill>
                <a:latin typeface="Calibri"/>
              </a:rPr>
              <a:t>$0</a:t>
            </a:r>
          </a:p>
          <a:p>
            <a:pPr algn="l">
              <a:spcAft>
                <a:spcPts val="630"/>
              </a:spcAft>
            </a:pPr>
            <a:r>
              <a:rPr sz="1800" b="1">
                <a:solidFill>
                  <a:srgbClr val="14213D"/>
                </a:solidFill>
                <a:latin typeface="Calibri"/>
              </a:rPr>
              <a:t>Web app (PWA)</a:t>
            </a:r>
          </a:p>
          <a:p>
            <a:pPr algn="l">
              <a:spcAft>
                <a:spcPts val="489"/>
              </a:spcAft>
            </a:pPr>
            <a:r>
              <a:rPr sz="1400" b="0">
                <a:solidFill>
                  <a:srgbClr val="4A5568"/>
                </a:solidFill>
                <a:latin typeface="Calibri"/>
              </a:rPr>
              <a:t>Free hosting on GitHub Pages, Netlify or Cloudflare Pages.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2226" y="2011680"/>
            <a:ext cx="3387242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22266" y="2286000"/>
            <a:ext cx="2747162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889"/>
              </a:spcAft>
            </a:pPr>
            <a:r>
              <a:rPr sz="5400" b="1">
                <a:solidFill>
                  <a:srgbClr val="2B59C3"/>
                </a:solidFill>
                <a:latin typeface="Calibri"/>
              </a:rPr>
              <a:t>$25</a:t>
            </a:r>
          </a:p>
          <a:p>
            <a:pPr algn="l">
              <a:spcAft>
                <a:spcPts val="630"/>
              </a:spcAft>
            </a:pPr>
            <a:r>
              <a:rPr sz="1800" b="1">
                <a:solidFill>
                  <a:srgbClr val="14213D"/>
                </a:solidFill>
                <a:latin typeface="Calibri"/>
              </a:rPr>
              <a:t>Google Play, one-time</a:t>
            </a:r>
          </a:p>
          <a:p>
            <a:pPr algn="l">
              <a:spcAft>
                <a:spcPts val="489"/>
              </a:spcAft>
            </a:pPr>
            <a:r>
              <a:rPr sz="1400" b="0">
                <a:solidFill>
                  <a:srgbClr val="4A5568"/>
                </a:solidFill>
                <a:latin typeface="Calibri"/>
              </a:rPr>
              <a:t>Developer account; any computer works.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90636" y="2011680"/>
            <a:ext cx="3387242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10676" y="2286000"/>
            <a:ext cx="2747162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889"/>
              </a:spcAft>
            </a:pPr>
            <a:r>
              <a:rPr sz="5400" b="1">
                <a:solidFill>
                  <a:srgbClr val="B85C12"/>
                </a:solidFill>
                <a:latin typeface="Calibri"/>
              </a:rPr>
              <a:t>$99</a:t>
            </a:r>
          </a:p>
          <a:p>
            <a:pPr algn="l">
              <a:spcAft>
                <a:spcPts val="630"/>
              </a:spcAft>
            </a:pPr>
            <a:r>
              <a:rPr sz="1800" b="1">
                <a:solidFill>
                  <a:srgbClr val="14213D"/>
                </a:solidFill>
                <a:latin typeface="Calibri"/>
              </a:rPr>
              <a:t>Apple, per year</a:t>
            </a:r>
          </a:p>
          <a:p>
            <a:pPr algn="l">
              <a:spcAft>
                <a:spcPts val="489"/>
              </a:spcAft>
            </a:pPr>
            <a:r>
              <a:rPr sz="1400" b="0">
                <a:solidFill>
                  <a:srgbClr val="4A5568"/>
                </a:solidFill>
                <a:latin typeface="Calibri"/>
              </a:rPr>
              <a:t>Developer account plus a Mac, or a cloud build service.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816" y="658368"/>
            <a:ext cx="10564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>
                <a:solidFill>
                  <a:srgbClr val="2B59C3"/>
                </a:solidFill>
                <a:latin typeface="Calibri"/>
              </a:rPr>
              <a:t>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987552"/>
            <a:ext cx="10564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20"/>
              </a:spcAft>
            </a:pPr>
            <a:r>
              <a:rPr sz="3200" b="1">
                <a:solidFill>
                  <a:srgbClr val="14213D"/>
                </a:solidFill>
                <a:latin typeface="Calibri"/>
              </a:rPr>
              <a:t>Three steps, cheapest first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3816" y="1920240"/>
            <a:ext cx="3064154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136" y="2194560"/>
            <a:ext cx="2515514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20"/>
              </a:spcAft>
            </a:pPr>
            <a:r>
              <a:rPr sz="3200" b="1">
                <a:solidFill>
                  <a:srgbClr val="2B59C3"/>
                </a:solidFill>
                <a:latin typeface="Calibri"/>
              </a:rPr>
              <a:t>1</a:t>
            </a:r>
          </a:p>
          <a:p>
            <a:pPr algn="l">
              <a:spcAft>
                <a:spcPts val="630"/>
              </a:spcAft>
            </a:pPr>
            <a:r>
              <a:rPr sz="1800" b="1">
                <a:solidFill>
                  <a:srgbClr val="14213D"/>
                </a:solidFill>
                <a:latin typeface="Calibri"/>
              </a:rPr>
              <a:t>Installable web app</a:t>
            </a:r>
          </a:p>
          <a:p>
            <a:pPr algn="l">
              <a:spcAft>
                <a:spcPts val="489"/>
              </a:spcAft>
            </a:pPr>
            <a:r>
              <a:rPr sz="1400" b="0">
                <a:solidFill>
                  <a:srgbClr val="4A5568"/>
                </a:solidFill>
                <a:latin typeface="Calibri"/>
              </a:rPr>
              <a:t>Offline caching, local fonts, icons, About / Credits tab, privacy page. Works on every phone right away.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015130" y="3337560"/>
            <a:ext cx="411480" cy="274320"/>
          </a:xfrm>
          <a:prstGeom prst="rightArrow">
            <a:avLst/>
          </a:prstGeom>
          <a:solidFill>
            <a:srgbClr val="9AA6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63770" y="1920240"/>
            <a:ext cx="3064154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38090" y="2194560"/>
            <a:ext cx="2515514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20"/>
              </a:spcAft>
            </a:pPr>
            <a:r>
              <a:rPr sz="3200" b="1">
                <a:solidFill>
                  <a:srgbClr val="2B59C3"/>
                </a:solidFill>
                <a:latin typeface="Calibri"/>
              </a:rPr>
              <a:t>2</a:t>
            </a:r>
          </a:p>
          <a:p>
            <a:pPr algn="l">
              <a:spcAft>
                <a:spcPts val="630"/>
              </a:spcAft>
            </a:pPr>
            <a:r>
              <a:rPr sz="1800" b="1">
                <a:solidFill>
                  <a:srgbClr val="14213D"/>
                </a:solidFill>
                <a:latin typeface="Calibri"/>
              </a:rPr>
              <a:t>Android on Google Play</a:t>
            </a:r>
          </a:p>
          <a:p>
            <a:pPr algn="l">
              <a:spcAft>
                <a:spcPts val="489"/>
              </a:spcAft>
            </a:pPr>
            <a:r>
              <a:rPr sz="1400" b="0">
                <a:solidFill>
                  <a:srgbClr val="4A5568"/>
                </a:solidFill>
                <a:latin typeface="Calibri"/>
              </a:rPr>
              <a:t>Package the web app with PWABuilder. Voice works unchanged. $25 once.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765084" y="3337560"/>
            <a:ext cx="411480" cy="274320"/>
          </a:xfrm>
          <a:prstGeom prst="rightArrow">
            <a:avLst/>
          </a:prstGeom>
          <a:solidFill>
            <a:srgbClr val="9AA6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313724" y="1920240"/>
            <a:ext cx="3064154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88044" y="2194560"/>
            <a:ext cx="2515514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20"/>
              </a:spcAft>
            </a:pPr>
            <a:r>
              <a:rPr sz="3200" b="1">
                <a:solidFill>
                  <a:srgbClr val="2B59C3"/>
                </a:solidFill>
                <a:latin typeface="Calibri"/>
              </a:rPr>
              <a:t>3</a:t>
            </a:r>
          </a:p>
          <a:p>
            <a:pPr algn="l">
              <a:spcAft>
                <a:spcPts val="630"/>
              </a:spcAft>
            </a:pPr>
            <a:r>
              <a:rPr sz="1800" b="1">
                <a:solidFill>
                  <a:srgbClr val="14213D"/>
                </a:solidFill>
                <a:latin typeface="Calibri"/>
              </a:rPr>
              <a:t>iPhone App Store</a:t>
            </a:r>
          </a:p>
          <a:p>
            <a:pPr algn="l">
              <a:spcAft>
                <a:spcPts val="489"/>
              </a:spcAft>
            </a:pPr>
            <a:r>
              <a:rPr sz="1400" b="0">
                <a:solidFill>
                  <a:srgbClr val="4A5568"/>
                </a:solidFill>
                <a:latin typeface="Calibri"/>
              </a:rPr>
              <a:t>Wrap with Capacitor when you want to be listed. Meanwhile: "Add to Home Screen".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816" y="1554480"/>
            <a:ext cx="49377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>
                <a:solidFill>
                  <a:srgbClr val="F2A65A"/>
                </a:solidFill>
                <a:latin typeface="Calibri"/>
              </a:rPr>
              <a:t>NEXT STEPS</a:t>
            </a:r>
          </a:p>
          <a:p>
            <a:pPr algn="l">
              <a:spcAft>
                <a:spcPts val="1400"/>
              </a:spcAft>
            </a:pPr>
            <a:r>
              <a:rPr sz="4000" b="1">
                <a:solidFill>
                  <a:srgbClr val="FBFBF8"/>
                </a:solidFill>
                <a:latin typeface="Calibri"/>
              </a:rPr>
              <a:t>Three decisions, then step 1</a:t>
            </a:r>
          </a:p>
          <a:p>
            <a:pPr algn="l">
              <a:spcAft>
                <a:spcPts val="560"/>
              </a:spcAft>
            </a:pPr>
            <a:r>
              <a:rPr sz="1600" b="0">
                <a:solidFill>
                  <a:srgbClr val="D5DCEA"/>
                </a:solidFill>
                <a:latin typeface="Calibri"/>
              </a:rPr>
              <a:t>Step 1 covers the web app setup, local fonts, the About / Credits tab, the privacy policy and the LICENSE / NOTICE files.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309360" y="1188720"/>
            <a:ext cx="5074920" cy="1371600"/>
          </a:xfrm>
          <a:prstGeom prst="roundRect">
            <a:avLst>
              <a:gd name="adj" fmla="val 6000"/>
            </a:avLst>
          </a:prstGeom>
          <a:solidFill>
            <a:srgbClr val="1F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0" y="1417320"/>
            <a:ext cx="4572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30"/>
              </a:spcAft>
            </a:pPr>
            <a:r>
              <a:rPr sz="1800" b="1">
                <a:solidFill>
                  <a:srgbClr val="FBFBF8"/>
                </a:solidFill>
                <a:latin typeface="Calibri"/>
              </a:rPr>
              <a:t>Publisher name</a:t>
            </a:r>
          </a:p>
          <a:p>
            <a:pPr algn="l">
              <a:spcAft>
                <a:spcPts val="489"/>
              </a:spcAft>
            </a:pPr>
            <a:r>
              <a:rPr sz="1400" b="0">
                <a:solidFill>
                  <a:srgbClr val="D5DCEA"/>
                </a:solidFill>
                <a:latin typeface="Calibri"/>
              </a:rPr>
              <a:t>Shown in the stores and on the Credits page.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2743200"/>
            <a:ext cx="5074920" cy="1371600"/>
          </a:xfrm>
          <a:prstGeom prst="roundRect">
            <a:avLst>
              <a:gd name="adj" fmla="val 6000"/>
            </a:avLst>
          </a:prstGeom>
          <a:solidFill>
            <a:srgbClr val="1F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2971800"/>
            <a:ext cx="4572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30"/>
              </a:spcAft>
            </a:pPr>
            <a:r>
              <a:rPr sz="1800" b="1">
                <a:solidFill>
                  <a:srgbClr val="FBFBF8"/>
                </a:solidFill>
                <a:latin typeface="Calibri"/>
              </a:rPr>
              <a:t>Licence for your own code</a:t>
            </a:r>
          </a:p>
          <a:p>
            <a:pPr algn="l">
              <a:spcAft>
                <a:spcPts val="489"/>
              </a:spcAft>
            </a:pPr>
            <a:r>
              <a:rPr sz="1400" b="0">
                <a:solidFill>
                  <a:srgbClr val="D5DCEA"/>
                </a:solidFill>
                <a:latin typeface="Calibri"/>
              </a:rPr>
              <a:t>Open source (e.g. MIT) or "all rights reserved".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4297680"/>
            <a:ext cx="5074920" cy="1371600"/>
          </a:xfrm>
          <a:prstGeom prst="roundRect">
            <a:avLst>
              <a:gd name="adj" fmla="val 6000"/>
            </a:avLst>
          </a:prstGeom>
          <a:solidFill>
            <a:srgbClr val="1F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4526280"/>
            <a:ext cx="4572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30"/>
              </a:spcAft>
            </a:pPr>
            <a:r>
              <a:rPr sz="1800" b="1">
                <a:solidFill>
                  <a:srgbClr val="FBFBF8"/>
                </a:solidFill>
                <a:latin typeface="Calibri"/>
              </a:rPr>
              <a:t>App name</a:t>
            </a:r>
          </a:p>
          <a:p>
            <a:pPr algn="l">
              <a:spcAft>
                <a:spcPts val="489"/>
              </a:spcAft>
            </a:pPr>
            <a:r>
              <a:rPr sz="1400" b="0">
                <a:solidFill>
                  <a:srgbClr val="D5DCEA"/>
                </a:solidFill>
                <a:latin typeface="Calibri"/>
              </a:rPr>
              <a:t>Keep "Artikel-Trainer" or pick a distinctive 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