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questions: can we publish the tool, and how do we turn it into an app. Short answers first, then the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practical summary, not legal advice. For a commercial launch, a quick check with someone who knows open licences is worth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Wiktionary is the only source with a ShareAlike condition, explained on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Emoji are drawn by the phone's own emoji font and voices come from the phone's text-to-speech, so neither is part of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ShareAlike means that anyone who receives the Wiktionary-derived data files may reuse them under the same licence. It does not force the app code to be open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example sentences are user-written on Tatoeba. They were filtered for kid safety, but nobody has read all 17,000.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parental gate matters for the Tatoeba source links in the dictionary: in the Kids category, links that leave the app need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Pronunciation now drives much of the app: words, syllables and example sentences. That is why text-to-speech support shapes the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2 uses a Trusted Web Activity: the PWA shown full screen inside Chrome, packaged for the Play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applies to file downloads: the Excel template and export need the share sheet inside a Capacitor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stores also need a privacy policy link. Apple sometimes rejects apps that are "just a website"; offline use, pronunciation and file import count as app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is the foundation for both store versions, so no work is wasted.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these three are decided, step 1 can start right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1920240"/>
            <a:ext cx="10564063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1">
                <a:solidFill>
                  <a:srgbClr val="F2A65A"/>
                </a:solidFill>
                <a:latin typeface="Calibri"/>
              </a:rPr>
              <a:t>DER · DIE · DAS</a:t>
            </a:r>
          </a:p>
          <a:p>
            <a:pPr algn="l">
              <a:spcAft>
                <a:spcPts val="1679"/>
              </a:spcAft>
            </a:pPr>
            <a:r>
              <a:rPr sz="4800" b="1">
                <a:solidFill>
                  <a:srgbClr val="FBFBF8"/>
                </a:solidFill>
                <a:latin typeface="Calibri"/>
              </a:rPr>
              <a:t>Anshi German Learning App</a:t>
            </a:r>
          </a:p>
          <a:p>
            <a:pPr algn="l">
              <a:spcAft>
                <a:spcPts val="839"/>
              </a:spcAft>
            </a:pPr>
            <a:r>
              <a:rPr sz="2400" b="0">
                <a:solidFill>
                  <a:srgbClr val="D5DCEA"/>
                </a:solidFill>
                <a:latin typeface="Calibri"/>
              </a:rPr>
              <a:t>Licensing check and the road to a mobile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91072"/>
            <a:ext cx="10564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>
                <a:solidFill>
                  <a:srgbClr val="9AA6BF"/>
                </a:solidFill>
                <a:latin typeface="Calibri"/>
              </a:rPr>
              <a:t>A practical summary, not legal advice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658368"/>
            <a:ext cx="10564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2B59C3"/>
                </a:solidFill>
                <a:latin typeface="Calibri"/>
              </a:rPr>
              <a:t>CAN I PUBLISH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87552"/>
            <a:ext cx="10564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>
                <a:solidFill>
                  <a:srgbClr val="14213D"/>
                </a:solidFill>
                <a:latin typeface="Calibri"/>
              </a:rPr>
              <a:t>Yes, for free or even commercially.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783080"/>
            <a:ext cx="105640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800" b="0">
                <a:solidFill>
                  <a:srgbClr val="4A5568"/>
                </a:solidFill>
                <a:latin typeface="Calibri"/>
              </a:rPr>
              <a:t>No part of the app is "all rights reserved". Three conditions apply: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2651760"/>
            <a:ext cx="338724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2926079"/>
            <a:ext cx="283860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2B59C3"/>
                </a:solidFill>
                <a:latin typeface="Calibri"/>
              </a:rPr>
              <a:t>1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Credit the open sources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Wiktionary, Tatoeba, the frequency lists, fonts and libraries.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2226" y="2651760"/>
            <a:ext cx="338724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6546" y="2926079"/>
            <a:ext cx="283860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2B59C3"/>
                </a:solidFill>
                <a:latin typeface="Calibri"/>
              </a:rPr>
              <a:t>2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Keep Wiktionary data open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Data files built from Wiktionary stay under CC BY-SA if you share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0636" y="2651760"/>
            <a:ext cx="338724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4956" y="2926079"/>
            <a:ext cx="283860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2B59C3"/>
                </a:solidFill>
                <a:latin typeface="Calibri"/>
              </a:rPr>
              <a:t>3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Add two pages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An About / Credits page and a privacy policy.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658368"/>
            <a:ext cx="10564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2B59C3"/>
                </a:solidFill>
                <a:latin typeface="Calibri"/>
              </a:rPr>
              <a:t>WHAT'S INSIDE ·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87552"/>
            <a:ext cx="10564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Data from open 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816" y="1874519"/>
          <a:ext cx="105640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4859"/>
                <a:gridCol w="2324093"/>
                <a:gridCol w="1795890"/>
                <a:gridCol w="316921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Part of the app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Licence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What you must do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Extra nouns and verbs, verb forms, adjective meanings, plurals, syllable splits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Wiktionary (via kaikki.org, gambolputty)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C2433"/>
                          </a:solidFill>
                          <a:latin typeface="Calibri"/>
                        </a:rPr>
                        <a:t>CC BY-SA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Credit Wiktionary; share these data files under CC BY-SA too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17,236 example sentences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Tatoeba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C2433"/>
                          </a:solidFill>
                          <a:latin typeface="Calibri"/>
                        </a:rPr>
                        <a:t>CC BY 2.0 FR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Credit Tatoeba (the per-sentence links already do)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Frequency ranking (Top 5000)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Leipzig Corpora, OpenSubtitles word list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Statistics; sources ask for credit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Name both as sources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816" y="6291072"/>
            <a:ext cx="10564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>
                <a:solidFill>
                  <a:srgbClr val="5A6478"/>
                </a:solidFill>
                <a:latin typeface="Calibri"/>
              </a:rPr>
              <a:t>Rankings are computed statistics, but crediting the corpora is the safe and polite choice.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658368"/>
            <a:ext cx="10564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2B59C3"/>
                </a:solidFill>
                <a:latin typeface="Calibri"/>
              </a:rPr>
              <a:t>WHAT'S INSIDE ·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87552"/>
            <a:ext cx="10564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Your own work, tools and fonts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816" y="1874519"/>
          <a:ext cx="105640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140"/>
                <a:gridCol w="2112812"/>
                <a:gridCol w="2007171"/>
                <a:gridCol w="2957937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Part of the app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Licence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What you must do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App code, design, themed noun lists, small-word English, picture choices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This project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C2433"/>
                          </a:solidFill>
                          <a:latin typeface="Calibri"/>
                        </a:rPr>
                        <a:t>Yours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Nothing; choose any licence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Excel library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SheetJS (xlsx)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C2433"/>
                          </a:solidFill>
                          <a:latin typeface="Calibri"/>
                        </a:rPr>
                        <a:t>Apache 2.0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Include its licence text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Hyphenation patterns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TeX hyphenation project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C2433"/>
                          </a:solidFill>
                          <a:latin typeface="Calibri"/>
                        </a:rPr>
                        <a:t>MIT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Keep the notice (already in the file)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Fonts: Playwrite DE, Nunito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Google Fonts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C2433"/>
                          </a:solidFill>
                          <a:latin typeface="Calibri"/>
                        </a:rPr>
                        <a:t>SIL OFL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Free to bundle; include the OFL notice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Emoji pictures and voices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The user's device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Not shipped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658368"/>
            <a:ext cx="10564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2B59C3"/>
                </a:solidFill>
                <a:latin typeface="Calibri"/>
              </a:rPr>
              <a:t>SHAREALIKE,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87552"/>
            <a:ext cx="10564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Each part keeps its own licence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874519"/>
            <a:ext cx="5181447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" y="1874519"/>
            <a:ext cx="5181447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194560"/>
            <a:ext cx="4541367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14213D"/>
                </a:solidFill>
                <a:latin typeface="Calibri"/>
              </a:rPr>
              <a:t>Must stay CC BY-SA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Data files built from Wiktionary:</a:t>
            </a:r>
          </a:p>
          <a:p>
            <a:pPr algn="l">
              <a:spcAft>
                <a:spcPts val="525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•  09-extended-nouns.js</a:t>
            </a:r>
          </a:p>
          <a:p>
            <a:pPr algn="l">
              <a:spcAft>
                <a:spcPts val="525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•  verbs.js, words.js</a:t>
            </a:r>
          </a:p>
          <a:p>
            <a:pPr algn="l">
              <a:spcAft>
                <a:spcPts val="525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•  plurals.js, syllables.js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1874519"/>
            <a:ext cx="5181447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6431" y="1874519"/>
            <a:ext cx="5181447" cy="73152"/>
          </a:xfrm>
          <a:prstGeom prst="rect">
            <a:avLst/>
          </a:prstGeom>
          <a:solidFill>
            <a:srgbClr val="2B5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6471" y="2194560"/>
            <a:ext cx="4541367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14213D"/>
                </a:solidFill>
                <a:latin typeface="Calibri"/>
              </a:rPr>
              <a:t>Your choice of licence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Everything written for this project:</a:t>
            </a:r>
          </a:p>
          <a:p>
            <a:pPr algn="l">
              <a:spcAft>
                <a:spcPts val="525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•  app.js, index.html, style.css</a:t>
            </a:r>
          </a:p>
          <a:p>
            <a:pPr algn="l">
              <a:spcAft>
                <a:spcPts val="525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•  Themed noun lists (01–08)</a:t>
            </a:r>
          </a:p>
          <a:p>
            <a:pPr algn="l">
              <a:spcAft>
                <a:spcPts val="525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•  pictures.js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6291072"/>
            <a:ext cx="10564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>
                <a:solidFill>
                  <a:srgbClr val="5A6478"/>
                </a:solidFill>
                <a:latin typeface="Calibri"/>
              </a:rPr>
              <a:t>An app that bundles parts under different licences is fine, as long as each part's terms are followed.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658368"/>
            <a:ext cx="10564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2B59C3"/>
                </a:solidFill>
                <a:latin typeface="Calibri"/>
              </a:rPr>
              <a:t>BEFORE PUBLISHING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87552"/>
            <a:ext cx="10564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Six small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874519"/>
            <a:ext cx="3399434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" y="2148839"/>
            <a:ext cx="285079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2B59C3"/>
                </a:solidFill>
                <a:latin typeface="Calibri"/>
              </a:rPr>
              <a:t>✓ TASK 1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About / Credits page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Lists every source and licence.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6130" y="1874519"/>
            <a:ext cx="3399434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0450" y="2148839"/>
            <a:ext cx="285079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2B59C3"/>
                </a:solidFill>
                <a:latin typeface="Calibri"/>
              </a:rPr>
              <a:t>✓ TASK 2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Privacy policy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Short: no data is collected.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8444" y="1874519"/>
            <a:ext cx="3399434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2764" y="2148839"/>
            <a:ext cx="285079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2B59C3"/>
                </a:solidFill>
                <a:latin typeface="Calibri"/>
              </a:rPr>
              <a:t>✓ TASK 3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LICENSE and NOTICE files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Your licence plus third-party notices.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" y="3840479"/>
            <a:ext cx="3399434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4114799"/>
            <a:ext cx="285079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2B59C3"/>
                </a:solidFill>
                <a:latin typeface="Calibri"/>
              </a:rPr>
              <a:t>✓ TASK 4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Check the app name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Search the stores for "Anshi German Learning App"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6130" y="3840479"/>
            <a:ext cx="3399434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0450" y="4114799"/>
            <a:ext cx="285079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2B59C3"/>
                </a:solidFill>
                <a:latin typeface="Calibri"/>
              </a:rPr>
              <a:t>✓ TASK 5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Skim the examples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Top 5000, or add a "report this sentence" button.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8444" y="3840479"/>
            <a:ext cx="3399434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2764" y="4114799"/>
            <a:ext cx="285079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2B59C3"/>
                </a:solidFill>
                <a:latin typeface="Calibri"/>
              </a:rPr>
              <a:t>✓ TASK 6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Bundle the fonts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So cursive works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17373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2B59C3"/>
                </a:solidFill>
                <a:latin typeface="Calibri"/>
              </a:rPr>
              <a:t>KIDS AND PRIVACY</a:t>
            </a:r>
          </a:p>
          <a:p>
            <a:pPr algn="l">
              <a:spcAft>
                <a:spcPts val="1400"/>
              </a:spcAft>
            </a:pPr>
            <a:r>
              <a:rPr sz="4000" b="1">
                <a:solidFill>
                  <a:srgbClr val="14213D"/>
                </a:solidFill>
                <a:latin typeface="Calibri"/>
              </a:rPr>
              <a:t>No data leaves the device.</a:t>
            </a:r>
          </a:p>
          <a:p>
            <a:pPr algn="l">
              <a:spcAft>
                <a:spcPts val="560"/>
              </a:spcAft>
            </a:pPr>
            <a:r>
              <a:rPr sz="1600" b="0">
                <a:solidFill>
                  <a:srgbClr val="4A5568"/>
                </a:solidFill>
                <a:latin typeface="Calibri"/>
              </a:rPr>
              <a:t>Settings, scores and added words are saved in the browser on the device only.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09360" y="109728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1097280"/>
            <a:ext cx="73152" cy="1417320"/>
          </a:xfrm>
          <a:prstGeom prst="rect">
            <a:avLst/>
          </a:prstGeom>
          <a:solidFill>
            <a:srgbClr val="2B5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1298448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4213D"/>
                </a:solidFill>
                <a:latin typeface="Calibri"/>
              </a:rPr>
              <a:t>No ads, analytics or accounts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Keep it that way to qualify for kids' programmes.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69748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2697480"/>
            <a:ext cx="73152" cy="1417320"/>
          </a:xfrm>
          <a:prstGeom prst="rect">
            <a:avLst/>
          </a:prstGeom>
          <a:solidFill>
            <a:srgbClr val="2B5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898648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4213D"/>
                </a:solidFill>
                <a:latin typeface="Calibri"/>
              </a:rPr>
              <a:t>Store rules for kids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Apple Kids category and Google "Designed for Families": no tracking, and a parental gate before external links such as Tatoeba.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29768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4297680"/>
            <a:ext cx="73152" cy="1417320"/>
          </a:xfrm>
          <a:prstGeom prst="rect">
            <a:avLst/>
          </a:prstGeom>
          <a:solidFill>
            <a:srgbClr val="2B5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498848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4213D"/>
                </a:solidFill>
                <a:latin typeface="Calibri"/>
              </a:rPr>
              <a:t>Privacy policy still required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Both stores want a link, even when nothing is collected.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2011680"/>
            <a:ext cx="96012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1">
                <a:solidFill>
                  <a:srgbClr val="F2A65A"/>
                </a:solidFill>
                <a:latin typeface="Calibri"/>
              </a:rPr>
              <a:t>PART 2</a:t>
            </a:r>
          </a:p>
          <a:p>
            <a:pPr algn="l">
              <a:spcAft>
                <a:spcPts val="1959"/>
              </a:spcAft>
            </a:pPr>
            <a:r>
              <a:rPr sz="5600" b="1">
                <a:solidFill>
                  <a:srgbClr val="FBFBF8"/>
                </a:solidFill>
                <a:latin typeface="Calibri"/>
              </a:rPr>
              <a:t>Making it an app</a:t>
            </a:r>
          </a:p>
          <a:p>
            <a:pPr algn="l">
              <a:spcAft>
                <a:spcPts val="769"/>
              </a:spcAft>
            </a:pPr>
            <a:r>
              <a:rPr sz="2200" b="0">
                <a:solidFill>
                  <a:srgbClr val="D5DCEA"/>
                </a:solidFill>
                <a:latin typeface="Calibri"/>
              </a:rPr>
              <a:t>About 5 MB of offline data, with pronunciation at the heart of it: the voice decides which route works best.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658368"/>
            <a:ext cx="10564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2B59C3"/>
                </a:solidFill>
                <a:latin typeface="Calibri"/>
              </a:rPr>
              <a:t>THE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87552"/>
            <a:ext cx="10564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Four ways to get onto phones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816" y="1874519"/>
          <a:ext cx="105640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015"/>
                <a:gridCol w="2324093"/>
                <a:gridCol w="2429734"/>
                <a:gridCol w="316921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Effort and cost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Voice (text-to-speech)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BF8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109728" marR="109728" marT="73152" marB="73152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C2433"/>
                          </a:solidFill>
                          <a:latin typeface="Calibri"/>
                        </a:rPr>
                        <a:t>1. Installable web app (PWA)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About 1 hour; free hosting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Works (real browser)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Home-screen icon, offline; not in the stores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C2433"/>
                          </a:solidFill>
                          <a:latin typeface="Calibri"/>
                        </a:rPr>
                        <a:t>2. Play Store via PWABuilder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A few hours; $25 once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Works (runs in Chrome)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Built from the PWA; updates go live without a new release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C2433"/>
                          </a:solidFill>
                          <a:latin typeface="Calibri"/>
                        </a:rPr>
                        <a:t>3. Capacitor app (iOS + Android)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2–4 days; Apple $99/year + a Mac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iOS works; Android needs a plugin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Plugins for downloads and sharing; printing differs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C2433"/>
                          </a:solidFill>
                          <a:latin typeface="Calibri"/>
                        </a:rPr>
                        <a:t>Rewrite in Flutter or React Native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Weeks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33"/>
                          </a:solidFill>
                          <a:latin typeface="Calibri"/>
                        </a:rPr>
                        <a:t>Not worth it: everything would be rebuilt</a:t>
                      </a:r>
                    </a:p>
                  </a:txBody>
                  <a:tcPr marL="109728" marR="109728" marT="73152" marB="73152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658368"/>
            <a:ext cx="10564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2B59C3"/>
                </a:solidFill>
                <a:latin typeface="Calibri"/>
              </a:rPr>
              <a:t>WHY THE VOICE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87552"/>
            <a:ext cx="10564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Where the built-in voice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874519"/>
            <a:ext cx="338724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" y="1874519"/>
            <a:ext cx="3387242" cy="73152"/>
          </a:xfrm>
          <a:prstGeom prst="rect">
            <a:avLst/>
          </a:prstGeom>
          <a:solidFill>
            <a:srgbClr val="2B5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2148839"/>
            <a:ext cx="283860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2B59C3"/>
                </a:solidFill>
                <a:latin typeface="Calibri"/>
              </a:rPr>
              <a:t>WORKS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Browser, PWA and Play Store (PWABuilder)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Words, syllables and sentences play unchanged.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2226" y="1874519"/>
            <a:ext cx="338724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2226" y="1874519"/>
            <a:ext cx="3387242" cy="73152"/>
          </a:xfrm>
          <a:prstGeom prst="rect">
            <a:avLst/>
          </a:prstGeom>
          <a:solidFill>
            <a:srgbClr val="2B5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6546" y="2148839"/>
            <a:ext cx="283860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2B59C3"/>
                </a:solidFill>
                <a:latin typeface="Calibri"/>
              </a:rPr>
              <a:t>WORKS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iPhone app (Capacitor on iOS)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The iOS web view includes the speech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0636" y="1874519"/>
            <a:ext cx="338724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0636" y="1874519"/>
            <a:ext cx="3387242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2148839"/>
            <a:ext cx="283860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B85C12"/>
                </a:solidFill>
                <a:latin typeface="Calibri"/>
              </a:rPr>
              <a:t>NEEDS A PLUGIN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Android app (Capacitor on Android)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Android's built-in web view has no text-to-speech; add a native speech plugin.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4983480"/>
            <a:ext cx="105640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4A5568"/>
                </a:solidFill>
                <a:latin typeface="Calibri"/>
              </a:rPr>
              <a:t>So for Android, the Play Store route through PWABuilder keeps the voice working with no extra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658368"/>
            <a:ext cx="10564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2B59C3"/>
                </a:solidFill>
                <a:latin typeface="Calibri"/>
              </a:rPr>
              <a:t>COSTS AND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87552"/>
            <a:ext cx="10564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What each step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2011680"/>
            <a:ext cx="338724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2286000"/>
            <a:ext cx="274716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89"/>
              </a:spcAft>
            </a:pPr>
            <a:r>
              <a:rPr sz="5400" b="1">
                <a:solidFill>
                  <a:srgbClr val="2B59C3"/>
                </a:solidFill>
                <a:latin typeface="Calibri"/>
              </a:rPr>
              <a:t>$0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Web app (PWA)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Free hosting on GitHub Pages, Netlify or Cloudflare Pages.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2226" y="2011680"/>
            <a:ext cx="338724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2266" y="2286000"/>
            <a:ext cx="274716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89"/>
              </a:spcAft>
            </a:pPr>
            <a:r>
              <a:rPr sz="5400" b="1">
                <a:solidFill>
                  <a:srgbClr val="2B59C3"/>
                </a:solidFill>
                <a:latin typeface="Calibri"/>
              </a:rPr>
              <a:t>$25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Google Play, one-time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Developer account; any computer 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90636" y="2011680"/>
            <a:ext cx="338724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676" y="2286000"/>
            <a:ext cx="274716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89"/>
              </a:spcAft>
            </a:pPr>
            <a:r>
              <a:rPr sz="5400" b="1">
                <a:solidFill>
                  <a:srgbClr val="B85C12"/>
                </a:solidFill>
                <a:latin typeface="Calibri"/>
              </a:rPr>
              <a:t>$99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Apple, per year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Developer account plus a Mac, or a cloud build 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658368"/>
            <a:ext cx="10564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2B59C3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87552"/>
            <a:ext cx="10564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Three steps, cheapest 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920240"/>
            <a:ext cx="306415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" y="2194560"/>
            <a:ext cx="2515514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2B59C3"/>
                </a:solidFill>
                <a:latin typeface="Calibri"/>
              </a:rPr>
              <a:t>1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Installable web app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Offline caching, local fonts, icons, About / Credits tab, privacy page. Works on every phone right away.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15130" y="3337560"/>
            <a:ext cx="411480" cy="274320"/>
          </a:xfrm>
          <a:prstGeom prst="rightArrow">
            <a:avLst/>
          </a:prstGeom>
          <a:solidFill>
            <a:srgbClr val="9A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63770" y="1920240"/>
            <a:ext cx="306415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38090" y="2194560"/>
            <a:ext cx="2515514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2B59C3"/>
                </a:solidFill>
                <a:latin typeface="Calibri"/>
              </a:rPr>
              <a:t>2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Android on Google Play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Package the web app with PWABuilder. Voice works unchanged. $25 once.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65084" y="3337560"/>
            <a:ext cx="411480" cy="274320"/>
          </a:xfrm>
          <a:prstGeom prst="rightArrow">
            <a:avLst/>
          </a:prstGeom>
          <a:solidFill>
            <a:srgbClr val="9A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13724" y="1920240"/>
            <a:ext cx="306415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8044" y="2194560"/>
            <a:ext cx="2515514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20"/>
              </a:spcAft>
            </a:pPr>
            <a:r>
              <a:rPr sz="3200" b="1">
                <a:solidFill>
                  <a:srgbClr val="2B59C3"/>
                </a:solidFill>
                <a:latin typeface="Calibri"/>
              </a:rPr>
              <a:t>3</a:t>
            </a:r>
          </a:p>
          <a:p>
            <a:pPr algn="l">
              <a:spcAft>
                <a:spcPts val="630"/>
              </a:spcAft>
            </a:pPr>
            <a:r>
              <a:rPr sz="1800" b="1">
                <a:solidFill>
                  <a:srgbClr val="14213D"/>
                </a:solidFill>
                <a:latin typeface="Calibri"/>
              </a:rPr>
              <a:t>iPhone App Store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Wrap with Capacitor when you want to be listed. Meanwhile: "Add to Home Screen".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155448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F2A65A"/>
                </a:solidFill>
                <a:latin typeface="Calibri"/>
              </a:rPr>
              <a:t>NEXT STEPS</a:t>
            </a:r>
          </a:p>
          <a:p>
            <a:pPr algn="l">
              <a:spcAft>
                <a:spcPts val="1400"/>
              </a:spcAft>
            </a:pPr>
            <a:r>
              <a:rPr sz="4000" b="1">
                <a:solidFill>
                  <a:srgbClr val="FBFBF8"/>
                </a:solidFill>
                <a:latin typeface="Calibri"/>
              </a:rPr>
              <a:t>Three decisions, then step 1</a:t>
            </a:r>
          </a:p>
          <a:p>
            <a:pPr algn="l">
              <a:spcAft>
                <a:spcPts val="560"/>
              </a:spcAft>
            </a:pPr>
            <a:r>
              <a:rPr sz="1600" b="0">
                <a:solidFill>
                  <a:srgbClr val="D5DCEA"/>
                </a:solidFill>
                <a:latin typeface="Calibri"/>
              </a:rPr>
              <a:t>Step 1 covers the web app setup, local fonts, the About / Credits tab, the privacy policy and the LICENSE / NOTICE files.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09360" y="118872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1F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141732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800" b="1">
                <a:solidFill>
                  <a:srgbClr val="FBFBF8"/>
                </a:solidFill>
                <a:latin typeface="Calibri"/>
              </a:rPr>
              <a:t>Publisher name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D5DCEA"/>
                </a:solidFill>
                <a:latin typeface="Calibri"/>
              </a:rPr>
              <a:t>Shown in the stores and on the Credits page.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74320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1F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97180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800" b="1">
                <a:solidFill>
                  <a:srgbClr val="FBFBF8"/>
                </a:solidFill>
                <a:latin typeface="Calibri"/>
              </a:rPr>
              <a:t>Licence for your own code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D5DCEA"/>
                </a:solidFill>
                <a:latin typeface="Calibri"/>
              </a:rPr>
              <a:t>Open source (e.g. MIT) or "all rights reserved".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29768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1F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4526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800" b="1">
                <a:solidFill>
                  <a:srgbClr val="FBFBF8"/>
                </a:solidFill>
                <a:latin typeface="Calibri"/>
              </a:rPr>
              <a:t>App name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D5DCEA"/>
                </a:solidFill>
                <a:latin typeface="Calibri"/>
              </a:rPr>
              <a:t>Decided: "Anshi German Learning App".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